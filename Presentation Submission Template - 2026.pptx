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ssistant Medium"/>
      <p:regular r:id="rId19"/>
      <p:bold r:id="rId20"/>
    </p:embeddedFont>
    <p:embeddedFont>
      <p:font typeface="Assistant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3" roundtripDataSignature="AMtx7mjhSN+UyFyR7avhFcP4GIptexvm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ssistantMedium-bold.fntdata"/><Relationship Id="rId11" Type="http://schemas.openxmlformats.org/officeDocument/2006/relationships/slide" Target="slides/slide6.xml"/><Relationship Id="rId22" Type="http://schemas.openxmlformats.org/officeDocument/2006/relationships/font" Target="fonts/Assistant-bold.fntdata"/><Relationship Id="rId10" Type="http://schemas.openxmlformats.org/officeDocument/2006/relationships/slide" Target="slides/slide5.xml"/><Relationship Id="rId21" Type="http://schemas.openxmlformats.org/officeDocument/2006/relationships/font" Target="fonts/Assistant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ssistantMedium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e9a8685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ee9a8685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e9a86857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ee9a86857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e9a86857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ee9a86857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e9a86857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ee9a86857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aad02f73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eaad02f73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e9a86857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ee9a86857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e9a86857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ee9a86857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e9a86857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ee9a86857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e9a86857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ee9a86857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aad02f73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eaad02f73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818650" y="2990975"/>
            <a:ext cx="1003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Team name</a:t>
            </a:r>
            <a:endParaRPr b="0" i="0" sz="1300" u="none" cap="none" strike="noStrike">
              <a:solidFill>
                <a:srgbClr val="000000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826712" y="3368337"/>
            <a:ext cx="246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Presenter Name</a:t>
            </a:r>
            <a:endParaRPr b="0" i="0" sz="1300" u="none" cap="none" strike="noStrike">
              <a:solidFill>
                <a:srgbClr val="000000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cxnSp>
        <p:nvCxnSpPr>
          <p:cNvPr id="57" name="Google Shape;57;p1"/>
          <p:cNvCxnSpPr/>
          <p:nvPr/>
        </p:nvCxnSpPr>
        <p:spPr>
          <a:xfrm>
            <a:off x="894874" y="3377948"/>
            <a:ext cx="2023500" cy="0"/>
          </a:xfrm>
          <a:prstGeom prst="straightConnector1">
            <a:avLst/>
          </a:prstGeom>
          <a:noFill/>
          <a:ln cap="flat" cmpd="sng" w="9525">
            <a:solidFill>
              <a:srgbClr val="9084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"/>
          <p:cNvSpPr txBox="1"/>
          <p:nvPr/>
        </p:nvSpPr>
        <p:spPr>
          <a:xfrm>
            <a:off x="834774" y="4284537"/>
            <a:ext cx="24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4B057A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DATE: DD/MM/YY</a:t>
            </a:r>
            <a:endParaRPr b="0" i="0" sz="1000" u="none" cap="none" strike="noStrike">
              <a:solidFill>
                <a:srgbClr val="4B057A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" y="-12"/>
            <a:ext cx="9144000" cy="5143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 txBox="1"/>
          <p:nvPr/>
        </p:nvSpPr>
        <p:spPr>
          <a:xfrm>
            <a:off x="695898" y="1322700"/>
            <a:ext cx="7239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State the theme 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Define the problem with supporting data/observations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Describe the target user segment and scale of impact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Explain why existing solutions fall short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695900" y="435425"/>
            <a:ext cx="7239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400" u="none" cap="none" strike="noStrike">
                <a:solidFill>
                  <a:srgbClr val="4B057A"/>
                </a:solidFill>
                <a:latin typeface="Assistant"/>
                <a:ea typeface="Assistant"/>
                <a:cs typeface="Assistant"/>
                <a:sym typeface="Assistant"/>
              </a:rPr>
              <a:t>Theme Chosen &amp; Problem Statement</a:t>
            </a:r>
            <a:endParaRPr b="1" sz="3400">
              <a:solidFill>
                <a:srgbClr val="4B057A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ee9a86857c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" y="-12"/>
            <a:ext cx="9144000" cy="5143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ee9a86857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ee9a86857c_0_0"/>
          <p:cNvSpPr txBox="1"/>
          <p:nvPr/>
        </p:nvSpPr>
        <p:spPr>
          <a:xfrm>
            <a:off x="695898" y="1322700"/>
            <a:ext cx="7239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Identify the market/business gap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Quantify potential impact (user reach, revenue, cost savings)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Explain why Myntra is uniquely positioned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Highlight competitive advantage over other fashion platforms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4" name="Google Shape;74;g3ee9a86857c_0_0"/>
          <p:cNvSpPr txBox="1"/>
          <p:nvPr/>
        </p:nvSpPr>
        <p:spPr>
          <a:xfrm>
            <a:off x="695900" y="435425"/>
            <a:ext cx="7239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4B057A"/>
                </a:solidFill>
                <a:latin typeface="Assistant"/>
                <a:ea typeface="Assistant"/>
                <a:cs typeface="Assistant"/>
                <a:sym typeface="Assistant"/>
              </a:rPr>
              <a:t>Opportunity for Myntra</a:t>
            </a:r>
            <a:endParaRPr b="1" sz="3600">
              <a:solidFill>
                <a:srgbClr val="4B057A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3ee9a86857c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" y="-12"/>
            <a:ext cx="9144000" cy="5143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ee9a86857c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ee9a86857c_0_7"/>
          <p:cNvSpPr txBox="1"/>
          <p:nvPr/>
        </p:nvSpPr>
        <p:spPr>
          <a:xfrm>
            <a:off x="695898" y="1322700"/>
            <a:ext cx="7239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This section should include (but not limited to)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Key features of your proposed solution and clearly explain how each feature addresses a specific aspect of the problem statement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Proposed tech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High level architecture diagram 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Video/Screen Recording of working prototype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Links to code repository</a:t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2" name="Google Shape;82;g3ee9a86857c_0_7"/>
          <p:cNvSpPr txBox="1"/>
          <p:nvPr/>
        </p:nvSpPr>
        <p:spPr>
          <a:xfrm>
            <a:off x="695900" y="435425"/>
            <a:ext cx="7239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4B057A"/>
                </a:solidFill>
                <a:latin typeface="Assistant"/>
                <a:ea typeface="Assistant"/>
                <a:cs typeface="Assistant"/>
                <a:sym typeface="Assistant"/>
              </a:rPr>
              <a:t>Proposed Solution</a:t>
            </a:r>
            <a:endParaRPr b="1" sz="3600">
              <a:solidFill>
                <a:srgbClr val="4B057A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3ee9a86857c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" y="-12"/>
            <a:ext cx="9144000" cy="5143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ee9a86857c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ee9a86857c_0_14"/>
          <p:cNvSpPr txBox="1"/>
          <p:nvPr/>
        </p:nvSpPr>
        <p:spPr>
          <a:xfrm>
            <a:off x="695898" y="1322700"/>
            <a:ext cx="7239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This section should include (but not limited to)</a:t>
            </a:r>
            <a:br>
              <a:rPr lang="en" sz="18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</a:br>
            <a:endParaRPr sz="18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4826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 Medium"/>
              <a:buChar char="-"/>
            </a:pPr>
            <a:r>
              <a:rPr lang="en" sz="18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Potential impact on Myntra</a:t>
            </a:r>
            <a:endParaRPr sz="18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4826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 Medium"/>
              <a:buChar char="-"/>
            </a:pPr>
            <a:r>
              <a:rPr lang="en" sz="18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Future Roadmap and Scope</a:t>
            </a:r>
            <a:endParaRPr sz="18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-48260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 Medium"/>
              <a:buChar char="-"/>
            </a:pPr>
            <a:r>
              <a:rPr lang="en" sz="1800">
                <a:solidFill>
                  <a:schemeClr val="dk1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Challenges and Learnings</a:t>
            </a:r>
            <a:endParaRPr sz="18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127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0" name="Google Shape;90;g3ee9a86857c_0_14"/>
          <p:cNvSpPr txBox="1"/>
          <p:nvPr/>
        </p:nvSpPr>
        <p:spPr>
          <a:xfrm>
            <a:off x="695900" y="435425"/>
            <a:ext cx="7239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400" u="none" cap="none" strike="noStrike">
                <a:solidFill>
                  <a:srgbClr val="4B057A"/>
                </a:solidFill>
                <a:latin typeface="Assistant"/>
                <a:ea typeface="Assistant"/>
                <a:cs typeface="Assistant"/>
                <a:sym typeface="Assistant"/>
              </a:rPr>
              <a:t>Future View</a:t>
            </a:r>
            <a:endParaRPr b="1" sz="3400">
              <a:solidFill>
                <a:srgbClr val="4B057A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ee9a86857c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" y="-12"/>
            <a:ext cx="9144000" cy="5143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ee9a86857c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ee9a86857c_0_21"/>
          <p:cNvSpPr txBox="1"/>
          <p:nvPr/>
        </p:nvSpPr>
        <p:spPr>
          <a:xfrm>
            <a:off x="695898" y="1322700"/>
            <a:ext cx="723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8" name="Google Shape;98;g3ee9a86857c_0_21"/>
          <p:cNvSpPr txBox="1"/>
          <p:nvPr/>
        </p:nvSpPr>
        <p:spPr>
          <a:xfrm>
            <a:off x="695900" y="435425"/>
            <a:ext cx="7239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4B057A"/>
                </a:solidFill>
                <a:latin typeface="Assistant"/>
                <a:ea typeface="Assistant"/>
                <a:cs typeface="Assistant"/>
                <a:sym typeface="Assistant"/>
              </a:rPr>
              <a:t>Additional Slides</a:t>
            </a:r>
            <a:endParaRPr b="1" sz="3600">
              <a:solidFill>
                <a:srgbClr val="4B057A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3eaad02f73a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" y="-12"/>
            <a:ext cx="9144000" cy="5143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g3eaad02f73a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eaad02f73a_0_6"/>
          <p:cNvSpPr txBox="1"/>
          <p:nvPr/>
        </p:nvSpPr>
        <p:spPr>
          <a:xfrm>
            <a:off x="695898" y="1322700"/>
            <a:ext cx="723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6" name="Google Shape;106;g3eaad02f73a_0_6"/>
          <p:cNvSpPr txBox="1"/>
          <p:nvPr/>
        </p:nvSpPr>
        <p:spPr>
          <a:xfrm>
            <a:off x="695900" y="435425"/>
            <a:ext cx="7239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4B057A"/>
                </a:solidFill>
                <a:latin typeface="Assistant"/>
                <a:ea typeface="Assistant"/>
                <a:cs typeface="Assistant"/>
                <a:sym typeface="Assistant"/>
              </a:rPr>
              <a:t>Additional Slides</a:t>
            </a:r>
            <a:endParaRPr b="1" sz="3600">
              <a:solidFill>
                <a:srgbClr val="4B057A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695900" y="435425"/>
            <a:ext cx="7239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400" u="none" cap="none" strike="noStrike">
                <a:solidFill>
                  <a:srgbClr val="E0B3FF"/>
                </a:solidFill>
                <a:latin typeface="Assistant"/>
                <a:ea typeface="Assistant"/>
                <a:cs typeface="Assistant"/>
                <a:sym typeface="Assistant"/>
              </a:rPr>
              <a:t>Theme Chosen &amp; Problem Statement</a:t>
            </a:r>
            <a:endParaRPr b="1" sz="3400">
              <a:solidFill>
                <a:srgbClr val="E0B3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695898" y="1322700"/>
            <a:ext cx="723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State the theme 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Define the problem with supporting data/observations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Describe the target user segment and scale of impact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Explain why existing solutions fall short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ee9a86857c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ee9a86857c_0_35"/>
          <p:cNvSpPr txBox="1"/>
          <p:nvPr/>
        </p:nvSpPr>
        <p:spPr>
          <a:xfrm>
            <a:off x="695900" y="435425"/>
            <a:ext cx="7239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400" u="none" cap="none" strike="noStrike">
                <a:solidFill>
                  <a:srgbClr val="E0B3FF"/>
                </a:solidFill>
                <a:latin typeface="Assistant"/>
                <a:ea typeface="Assistant"/>
                <a:cs typeface="Assistant"/>
                <a:sym typeface="Assistant"/>
              </a:rPr>
              <a:t>Opportunity for Myntra</a:t>
            </a:r>
            <a:endParaRPr b="1" sz="3400">
              <a:solidFill>
                <a:srgbClr val="E0B3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0" name="Google Shape;120;g3ee9a86857c_0_35"/>
          <p:cNvSpPr txBox="1"/>
          <p:nvPr/>
        </p:nvSpPr>
        <p:spPr>
          <a:xfrm>
            <a:off x="695898" y="1322700"/>
            <a:ext cx="7239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Identify the market/business gap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Quantify potential impact (user reach, revenue, cost savings)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Explain why Myntra is uniquely positioned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lang="en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Highlight competitive advantage over other fashion platforms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ee9a86857c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ee9a86857c_0_41"/>
          <p:cNvSpPr txBox="1"/>
          <p:nvPr/>
        </p:nvSpPr>
        <p:spPr>
          <a:xfrm>
            <a:off x="695900" y="435425"/>
            <a:ext cx="7239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400" u="none" cap="none" strike="noStrike">
                <a:solidFill>
                  <a:srgbClr val="E0B3FF"/>
                </a:solidFill>
                <a:latin typeface="Assistant"/>
                <a:ea typeface="Assistant"/>
                <a:cs typeface="Assistant"/>
                <a:sym typeface="Assistant"/>
              </a:rPr>
              <a:t>Proposed Solution</a:t>
            </a:r>
            <a:endParaRPr b="1" sz="3400">
              <a:solidFill>
                <a:srgbClr val="E0B3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7" name="Google Shape;127;g3ee9a86857c_0_41"/>
          <p:cNvSpPr txBox="1"/>
          <p:nvPr/>
        </p:nvSpPr>
        <p:spPr>
          <a:xfrm>
            <a:off x="695898" y="1322700"/>
            <a:ext cx="7239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T</a:t>
            </a: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his section should include (but not limited to)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Key features of your proposed solution and clearly explain how each feature addresses a specific aspect of the problem statement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Proposed tech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High level architecture diagram 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Video/Screen Recording of working prototype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Links to code repository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ee9a86857c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ee9a86857c_0_47"/>
          <p:cNvSpPr txBox="1"/>
          <p:nvPr/>
        </p:nvSpPr>
        <p:spPr>
          <a:xfrm>
            <a:off x="695900" y="435425"/>
            <a:ext cx="7239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400" u="none" cap="none" strike="noStrike">
                <a:solidFill>
                  <a:srgbClr val="E0B3FF"/>
                </a:solidFill>
                <a:latin typeface="Assistant"/>
                <a:ea typeface="Assistant"/>
                <a:cs typeface="Assistant"/>
                <a:sym typeface="Assistant"/>
              </a:rPr>
              <a:t>Future View</a:t>
            </a:r>
            <a:endParaRPr b="1" sz="3400">
              <a:solidFill>
                <a:srgbClr val="E0B3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34" name="Google Shape;134;g3ee9a86857c_0_47"/>
          <p:cNvSpPr txBox="1"/>
          <p:nvPr/>
        </p:nvSpPr>
        <p:spPr>
          <a:xfrm>
            <a:off x="695898" y="1322700"/>
            <a:ext cx="7239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This section should include (but not limited to)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Potential impact on Myntra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Future Roadmap and Scope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-"/>
            </a:pPr>
            <a:r>
              <a:rPr b="0" i="0" lang="en" sz="1800" u="none" cap="none" strike="noStrik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Challenges and Learnings</a:t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ee9a86857c_0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ee9a86857c_0_53"/>
          <p:cNvSpPr txBox="1"/>
          <p:nvPr/>
        </p:nvSpPr>
        <p:spPr>
          <a:xfrm>
            <a:off x="695900" y="435425"/>
            <a:ext cx="7239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 sz="3400">
                <a:solidFill>
                  <a:srgbClr val="E0B3FF"/>
                </a:solidFill>
                <a:latin typeface="Assistant"/>
                <a:ea typeface="Assistant"/>
                <a:cs typeface="Assistant"/>
                <a:sym typeface="Assistant"/>
              </a:rPr>
              <a:t>Additional Slides</a:t>
            </a:r>
            <a:endParaRPr b="1" sz="3400">
              <a:solidFill>
                <a:srgbClr val="E0B3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1" name="Google Shape;141;g3ee9a86857c_0_53"/>
          <p:cNvSpPr txBox="1"/>
          <p:nvPr/>
        </p:nvSpPr>
        <p:spPr>
          <a:xfrm>
            <a:off x="695898" y="1322700"/>
            <a:ext cx="723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g3eaad02f73a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eaad02f73a_0_13"/>
          <p:cNvSpPr txBox="1"/>
          <p:nvPr/>
        </p:nvSpPr>
        <p:spPr>
          <a:xfrm>
            <a:off x="695900" y="435425"/>
            <a:ext cx="7239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" sz="3400">
                <a:solidFill>
                  <a:srgbClr val="E0B3FF"/>
                </a:solidFill>
                <a:latin typeface="Assistant"/>
                <a:ea typeface="Assistant"/>
                <a:cs typeface="Assistant"/>
                <a:sym typeface="Assistant"/>
              </a:rPr>
              <a:t>Additional Slides</a:t>
            </a:r>
            <a:endParaRPr b="1" sz="3400">
              <a:solidFill>
                <a:srgbClr val="E0B3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g3eaad02f73a_0_13"/>
          <p:cNvSpPr txBox="1"/>
          <p:nvPr/>
        </p:nvSpPr>
        <p:spPr>
          <a:xfrm>
            <a:off x="695898" y="1322700"/>
            <a:ext cx="723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